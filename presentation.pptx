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4B31"/>
                </a:solidFill>
              </a:rPr>
              <a:t>문학 심화탐구 발표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웃음이 곧 저항이었다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2011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문학 속 하층민은 어떻게 신분 사회에 맞섰는가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2697480"/>
            <a:ext cx="4114800" cy="36576"/>
          </a:xfrm>
          <a:prstGeom prst="rect">
            <a:avLst/>
          </a:prstGeom>
          <a:solidFill>
            <a:srgbClr val="8892AA"/>
          </a:solidFill>
          <a:ln w="12700">
            <a:solidFill>
              <a:srgbClr val="8892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880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892AA"/>
                </a:solidFill>
              </a:rPr>
              <a:t>예시 작품  ·  봉산탈춤  ×  서민귀족 (몰리에르)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4B31"/>
                </a:solidFill>
              </a:rPr>
              <a:t>조선 후기  ↔  17세기 프랑스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A04A"/>
                </a:solidFill>
              </a:rPr>
              <a:t>탐구 동기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하나의 의문에서 시작되었습니다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1508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109728" cy="1508760"/>
          </a:xfrm>
          <a:prstGeom prst="rect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81328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옛날 문학을 읽다 보면 하층민이 쓴 작품엔 항상 똑같은 패턴이 있었습니다.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귀족을 칭찬하는 글은 단 하나도 없고, 항상 풍자로 은유적으로 비판합니다.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왜 이 레파토리는 시대와 나라를 막론하고 항상 똑같을까?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3108960"/>
            <a:ext cx="269748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31821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A04A"/>
                </a:solidFill>
              </a:rPr>
              <a:t>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363931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패턴의 반복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00507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A"/>
                </a:solidFill>
              </a:rPr>
              <a:t>동서양·시대 불문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AA"/>
                </a:solidFill>
              </a:rPr>
              <a:t>항상 같은 구조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3108960"/>
            <a:ext cx="269748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31821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A04A"/>
                </a:solidFill>
              </a:rPr>
              <a:t>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46120" y="363931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직접 비판 없음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400507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A"/>
                </a:solidFill>
              </a:rPr>
              <a:t>풍자·은유로만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AA"/>
                </a:solidFill>
              </a:rPr>
              <a:t>간접적으로 표현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3108960"/>
            <a:ext cx="269748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31821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A04A"/>
                </a:solidFill>
              </a:rPr>
              <a:t>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80760" y="363931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왜?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400507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A"/>
                </a:solidFill>
              </a:rPr>
              <a:t>이 질문이 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AA"/>
                </a:solidFill>
              </a:rPr>
              <a:t>탐구의 출발점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4B31"/>
                </a:solidFill>
              </a:rPr>
              <a:t>배경 이해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하층민은 귀족을 싫어했는가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114800" cy="15727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91440" cy="157276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270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A04A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5270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경제적 착취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0391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A"/>
                </a:solidFill>
              </a:rPr>
              <a:t>수확 절반 이상 소작료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AA"/>
                </a:solidFill>
              </a:rPr>
              <a:t>면세 특권은 귀족만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114800" cy="15727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91440" cy="157276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270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A04A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23560" y="15270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법적 불평등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0391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A"/>
                </a:solidFill>
              </a:rPr>
              <a:t>귀족은 감형·면벌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AA"/>
                </a:solidFill>
              </a:rPr>
              <a:t>하층민은 재산 취급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154680"/>
            <a:ext cx="4114800" cy="15727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154680"/>
            <a:ext cx="91440" cy="157276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644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A04A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26440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문화적 멸시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7764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A"/>
                </a:solidFill>
              </a:rPr>
              <a:t>교육·대화조차 금기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AA"/>
                </a:solidFill>
              </a:rPr>
              <a:t>태생이 곧 운명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4114800" cy="15727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54680"/>
            <a:ext cx="91440" cy="157276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2644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A04A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23560" y="326440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귀족의 위선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37764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A"/>
                </a:solidFill>
              </a:rPr>
              <a:t>도덕을 설파하면서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AA"/>
                </a:solidFill>
              </a:rPr>
              <a:t>실제론 부패·향락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"그렇다면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그들은 어떻게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저항했는가?"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0" y="3858768"/>
            <a:ext cx="2743200" cy="54864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0782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2A04A"/>
                </a:solidFill>
              </a:rPr>
              <a:t>답은 '풍자'였습니다 — 직접 비판하면 목숨이 위험했기 때문입니다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A04A"/>
                </a:solidFill>
              </a:rPr>
              <a:t>예시 01  ·  조선 후기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봉산탈춤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44752"/>
            <a:ext cx="3840480" cy="33375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819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A04A"/>
                </a:solidFill>
              </a:rPr>
              <a:t>저항 주체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65960" y="1581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말뚝이 (하인)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3474720" cy="1828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5798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A04A"/>
                </a:solidFill>
              </a:rPr>
              <a:t>저항 대상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65960" y="21579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양반 삼형제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450592"/>
            <a:ext cx="3474720" cy="1828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340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A04A"/>
                </a:solidFill>
              </a:rPr>
              <a:t>저항 방식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27340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탈 뒤에 숨어 면전에서 조롱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026664"/>
            <a:ext cx="3474720" cy="1828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101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A04A"/>
                </a:solidFill>
              </a:rPr>
              <a:t>핵심 장치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65960" y="33101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탈 = 신분을 숨기는 가면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602736"/>
            <a:ext cx="3474720" cy="1828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886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A04A"/>
                </a:solidFill>
              </a:rPr>
              <a:t>관객 효과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3886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민중과 공감대 → 집단 저항의식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1444752"/>
            <a:ext cx="429768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34840" y="1444752"/>
            <a:ext cx="91440" cy="1600200"/>
          </a:xfrm>
          <a:prstGeom prst="rect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5179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2A04A"/>
                </a:solidFill>
              </a:rPr>
              <a:t>대표 장면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190195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말뚝이가 양반을 무대 앞으로 끌고 나와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관객들 앞에서 공개적으로 망신을 줌.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탈을 쓴 덕에 신분을 숨긴 채 발언 가능.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4840" y="3200400"/>
            <a:ext cx="4297680" cy="158191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17720" y="3273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4B31"/>
                </a:solidFill>
              </a:rPr>
              <a:t>의의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363931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웃음을 매개로 민중이 하나가 됨.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탈춤의 명절 공연은 '허가된 저항의 공간'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그 순간만큼은 신분 질서가 뒤집혔다.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4B31"/>
                </a:solidFill>
              </a:rPr>
              <a:t>예시 02  ·  17세기 프랑스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서민귀족  (몰리에르)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44752"/>
            <a:ext cx="3840480" cy="33375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819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4B31"/>
                </a:solidFill>
              </a:rPr>
              <a:t>저항 주체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65960" y="1581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몰리에르 (평민 출신 극작가)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3474720" cy="1828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5798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4B31"/>
                </a:solidFill>
              </a:rPr>
              <a:t>풍자 대상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65960" y="21579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귀족 흉내 내는 주르댕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450592"/>
            <a:ext cx="3474720" cy="1828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340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4B31"/>
                </a:solidFill>
              </a:rPr>
              <a:t>저항 방식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27340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주인공이 스스로 웃음거리가 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026664"/>
            <a:ext cx="3474720" cy="1828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101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4B31"/>
                </a:solidFill>
              </a:rPr>
              <a:t>핵심 장치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65960" y="33101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극(연극) = 신분을 해부하는 무대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602736"/>
            <a:ext cx="3474720" cy="1828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886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4B31"/>
                </a:solidFill>
              </a:rPr>
              <a:t>관객 효과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3886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귀족 계층의 허구성을 직접 목격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1444752"/>
            <a:ext cx="429768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34840" y="1444752"/>
            <a:ext cx="91440" cy="16002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5179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4B31"/>
                </a:solidFill>
              </a:rPr>
              <a:t>대표 장면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190195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주르댕이 귀족 예절을 배우러 선생을 고용하지만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오히려 선생들에게 조종당하고 웃음거리가 됨.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'귀족다움'이란 것이 얼마나 공허한지 폭로.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4840" y="3200400"/>
            <a:ext cx="4297680" cy="158191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17720" y="3273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2A04A"/>
                </a:solidFill>
              </a:rPr>
              <a:t>의의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363931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몰리에르 본인이 평민 출신 — 작품 자체가 저항.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귀족을 직접 비판하지 않고, 동경하는 인물을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웃음거리로 만들어 귀족 제도의 허구성을 폭로.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4B31"/>
                </a:solidFill>
              </a:rPr>
              <a:t>핵심 분석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항상 풍자였는가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444752"/>
            <a:ext cx="2697480" cy="33375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44752"/>
            <a:ext cx="2697480" cy="7315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727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직접 저항 = 죽음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679192"/>
            <a:ext cx="2148840" cy="36576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8892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A"/>
                </a:solidFill>
              </a:rPr>
              <a:t>반란·직접 비판은 처형의 대상.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AA"/>
                </a:solidFill>
              </a:rPr>
              <a:t>풍자는 '그냥 웃자고 한 말'로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AA"/>
                </a:solidFill>
              </a:rPr>
              <a:t>포장할 수 있었다.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444752"/>
            <a:ext cx="2697480" cy="33375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44752"/>
            <a:ext cx="2697480" cy="73152"/>
          </a:xfrm>
          <a:prstGeom prst="rect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727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29000" y="217627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웃음 속 진짜 메시지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66160" y="2679192"/>
            <a:ext cx="2148840" cy="36576"/>
          </a:xfrm>
          <a:prstGeom prst="rect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78892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A"/>
                </a:solidFill>
              </a:rPr>
              <a:t>관객·독자는 이미 알고 있었다.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AA"/>
                </a:solidFill>
              </a:rPr>
              <a:t>표면의 웃음 뒤에 숨겨진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AA"/>
                </a:solidFill>
              </a:rPr>
              <a:t>진짜 분노를.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1444752"/>
            <a:ext cx="2697480" cy="33375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444752"/>
            <a:ext cx="2697480" cy="73152"/>
          </a:xfrm>
          <a:prstGeom prst="rect">
            <a:avLst/>
          </a:prstGeom>
          <a:solidFill>
            <a:srgbClr val="4EA8DE"/>
          </a:solidFill>
          <a:ln w="12700">
            <a:solidFill>
              <a:srgbClr val="4EA8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5727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A8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217627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공감의 무기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46520" y="2679192"/>
            <a:ext cx="2148840" cy="36576"/>
          </a:xfrm>
          <a:prstGeom prst="rect">
            <a:avLst/>
          </a:prstGeom>
          <a:solidFill>
            <a:srgbClr val="4EA8DE"/>
          </a:solidFill>
          <a:ln w="12700">
            <a:solidFill>
              <a:srgbClr val="4EA8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78892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A"/>
                </a:solidFill>
              </a:rPr>
              <a:t>함께 웃으면 함께 분노한다.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AA"/>
                </a:solidFill>
              </a:rPr>
              <a:t>풍자는 하층민을 하나로 묶는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AA"/>
                </a:solidFill>
              </a:rPr>
              <a:t>가장 강력한 연대의 도구였다.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A04A"/>
                </a:solidFill>
              </a:rPr>
              <a:t>결론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문학은 그 칼집이었습니다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444752"/>
            <a:ext cx="832104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44752"/>
            <a:ext cx="109728" cy="1463040"/>
          </a:xfrm>
          <a:prstGeom prst="rect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0876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봉산탈춤과 서민귀족, 두 작품은 수백 년의 시간차와 동서양의 공간차를 넘어 같은 진실을 말합니다.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신분 사회에서 억압받은 자들은 언제나 웃음 속에 칼을 숨겼고, 그 칼집이 바로 문학이었습니다.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4114800" cy="17373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3063240"/>
            <a:ext cx="91440" cy="1737360"/>
          </a:xfrm>
          <a:prstGeom prst="rect">
            <a:avLst/>
          </a:prstGeom>
          <a:solidFill>
            <a:srgbClr val="E2A04A"/>
          </a:solidFill>
          <a:ln w="12700">
            <a:solidFill>
              <a:srgbClr val="E2A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1363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A04A"/>
                </a:solidFill>
              </a:rPr>
              <a:t>패턴이 반복된 이유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5661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풍자는 유일하게 안전한 저항이었기 때문.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시대와 나라가 달라도 억압의 구조가 같으면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저항의 방식도 같아진다.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063240"/>
            <a:ext cx="4114800" cy="17373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3063240"/>
            <a:ext cx="91440" cy="173736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1363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B31"/>
                </a:solidFill>
              </a:rPr>
              <a:t>문학의 역할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5661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문학은 단순한 오락이 아니었다.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말 못 할 분노를 담는 그릇이자,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민중을 하나로 묶는 연대의 언어였다.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웃음이 곧 저항이었다</dc:title>
  <dc:subject>PptxGenJS Presentation</dc:subject>
  <dc:creator>PptxGenJS</dc:creator>
  <cp:lastModifiedBy>PptxGenJS</cp:lastModifiedBy>
  <cp:revision>1</cp:revision>
  <dcterms:created xsi:type="dcterms:W3CDTF">2026-05-11T02:19:48Z</dcterms:created>
  <dcterms:modified xsi:type="dcterms:W3CDTF">2026-05-11T02:19:48Z</dcterms:modified>
</cp:coreProperties>
</file>